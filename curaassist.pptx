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833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90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582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833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323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07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62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22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48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400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725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111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578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953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673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440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361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0164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55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863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662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47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85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6681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247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6580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128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E92A-AADE-2626-A6FA-670972FCE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C0AF8-2D6D-12A8-DF5A-C28727FF0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943AC-3524-DC6D-4736-76420694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C6BE7-C617-3715-59BE-A2BD0DC2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67005-2FA6-CC54-9A49-6FE44F7F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22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486F5DD2-50A2-4067-9A25-D06040E2BEE3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9CFBA0F1-63A8-4CEA-89EE-BCB6EFFA49D8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95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A94B-2CD5-7D02-36A3-4255063A24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9EB82-E71B-6951-9ABC-B74C787A0A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E70DA-5033-CC87-920C-98FF6F2A0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802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12C37B-31DE-6F47-F778-1FD8E437C478}"/>
              </a:ext>
            </a:extLst>
          </p:cNvPr>
          <p:cNvSpPr txBox="1"/>
          <p:nvPr/>
        </p:nvSpPr>
        <p:spPr>
          <a:xfrm>
            <a:off x="1524000" y="1122363"/>
            <a:ext cx="5102942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CuraAssist</a:t>
            </a:r>
            <a:b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75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CareHub</a:t>
            </a:r>
            <a:endParaRPr lang="en-IN" sz="75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7A881-8201-F5AE-B515-0EC6B005EAA1}"/>
              </a:ext>
            </a:extLst>
          </p:cNvPr>
          <p:cNvSpPr txBox="1"/>
          <p:nvPr/>
        </p:nvSpPr>
        <p:spPr>
          <a:xfrm>
            <a:off x="2103883" y="4491494"/>
            <a:ext cx="2821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Presented by </a:t>
            </a:r>
            <a:b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Team Shark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C91989-4F11-E12B-E429-351B8E41E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80" y="923392"/>
            <a:ext cx="3583505" cy="537525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8499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2C51-83C6-5D81-6387-9A2DD04CA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5E435-8034-6B5A-A248-5178EDA8F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4FEC17-CDEC-6610-FF60-34B338E73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941" y="-56234"/>
            <a:ext cx="12391941" cy="69704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90B662-9061-02DA-5038-A8C3682DB55A}"/>
              </a:ext>
            </a:extLst>
          </p:cNvPr>
          <p:cNvSpPr txBox="1"/>
          <p:nvPr/>
        </p:nvSpPr>
        <p:spPr>
          <a:xfrm>
            <a:off x="943897" y="599768"/>
            <a:ext cx="60665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PROBLEMS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r>
              <a:rPr lang="en-US" sz="6600" dirty="0"/>
              <a:t>IDENTIFIED</a:t>
            </a:r>
            <a:endParaRPr lang="en-IN" sz="6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B052A0-F448-1DF3-00BC-E776BC4A6026}"/>
              </a:ext>
            </a:extLst>
          </p:cNvPr>
          <p:cNvSpPr txBox="1"/>
          <p:nvPr/>
        </p:nvSpPr>
        <p:spPr>
          <a:xfrm>
            <a:off x="8524960" y="2006105"/>
            <a:ext cx="313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Expensive </a:t>
            </a:r>
            <a:r>
              <a:rPr lang="en-IN" dirty="0">
                <a:latin typeface="Arial Black" panose="020B0A04020102020204" pitchFamily="34" charset="0"/>
              </a:rPr>
              <a:t> Medicine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9E3D3-2D3F-B444-22D5-AD3F42BC2D6D}"/>
              </a:ext>
            </a:extLst>
          </p:cNvPr>
          <p:cNvSpPr txBox="1"/>
          <p:nvPr/>
        </p:nvSpPr>
        <p:spPr>
          <a:xfrm>
            <a:off x="8524960" y="2395931"/>
            <a:ext cx="3224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 Black" panose="020B0A04020102020204" pitchFamily="34" charset="0"/>
              </a:rPr>
              <a:t>Difficulty in </a:t>
            </a:r>
            <a:r>
              <a:rPr lang="en-US" dirty="0">
                <a:latin typeface="Arial Black" panose="020B0A04020102020204" pitchFamily="34" charset="0"/>
              </a:rPr>
              <a:t>Finding Pharmacies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0A5AD4-F321-E1C7-D65B-0ABCCE0B13E9}"/>
              </a:ext>
            </a:extLst>
          </p:cNvPr>
          <p:cNvSpPr txBox="1"/>
          <p:nvPr/>
        </p:nvSpPr>
        <p:spPr>
          <a:xfrm>
            <a:off x="8525330" y="3120137"/>
            <a:ext cx="331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 Black" panose="020B0A04020102020204" pitchFamily="34" charset="0"/>
              </a:rPr>
              <a:t>Skipping medicine</a:t>
            </a:r>
            <a:endParaRPr lang="en-IN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B06FB9-0FCC-48F9-EA33-F1B4E6CE1162}"/>
              </a:ext>
            </a:extLst>
          </p:cNvPr>
          <p:cNvSpPr txBox="1"/>
          <p:nvPr/>
        </p:nvSpPr>
        <p:spPr>
          <a:xfrm>
            <a:off x="8524960" y="3535506"/>
            <a:ext cx="372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Emergency Requirement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F077B4-BBC6-804A-04CA-420AC0DFAB6B}"/>
              </a:ext>
            </a:extLst>
          </p:cNvPr>
          <p:cNvSpPr txBox="1"/>
          <p:nvPr/>
        </p:nvSpPr>
        <p:spPr>
          <a:xfrm>
            <a:off x="8539318" y="4440039"/>
            <a:ext cx="2890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L</a:t>
            </a:r>
            <a:r>
              <a:rPr lang="en-IN" dirty="0" err="1">
                <a:latin typeface="Arial Black" panose="020B0A04020102020204" pitchFamily="34" charset="0"/>
              </a:rPr>
              <a:t>imited</a:t>
            </a:r>
            <a:r>
              <a:rPr lang="en-IN" dirty="0">
                <a:latin typeface="Arial Black" panose="020B0A04020102020204" pitchFamily="34" charset="0"/>
              </a:rPr>
              <a:t> understanding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3AB124-05AD-4152-7593-5B9CF83450C9}"/>
              </a:ext>
            </a:extLst>
          </p:cNvPr>
          <p:cNvSpPr txBox="1"/>
          <p:nvPr/>
        </p:nvSpPr>
        <p:spPr>
          <a:xfrm>
            <a:off x="8525330" y="4060587"/>
            <a:ext cx="331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Multiple application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D020C7-4C13-A221-A052-2CDDAA6AAE09}"/>
              </a:ext>
            </a:extLst>
          </p:cNvPr>
          <p:cNvSpPr txBox="1"/>
          <p:nvPr/>
        </p:nvSpPr>
        <p:spPr>
          <a:xfrm>
            <a:off x="8524960" y="5090383"/>
            <a:ext cx="2919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Lack of HealthCare Guidance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07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56B07-D22B-F5DF-F56B-6392BEBB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5852-DC14-F355-9340-E317231675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7778A-291A-38C7-DC1D-7AB445F17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F10378-7259-E588-6FFB-6ED8562EE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6811" y="-146714"/>
            <a:ext cx="12893916" cy="71514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EB2E7A-79B1-ED45-DD15-BBF0DBDDFB96}"/>
              </a:ext>
            </a:extLst>
          </p:cNvPr>
          <p:cNvSpPr txBox="1"/>
          <p:nvPr/>
        </p:nvSpPr>
        <p:spPr>
          <a:xfrm>
            <a:off x="692412" y="562890"/>
            <a:ext cx="60665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our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r>
              <a:rPr lang="en-US" sz="8800" dirty="0"/>
              <a:t>Solutions</a:t>
            </a:r>
            <a:endParaRPr lang="en-IN" sz="8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877D6-D8D3-4C8C-125C-3BD43A569B24}"/>
              </a:ext>
            </a:extLst>
          </p:cNvPr>
          <p:cNvSpPr txBox="1"/>
          <p:nvPr/>
        </p:nvSpPr>
        <p:spPr>
          <a:xfrm>
            <a:off x="8554066" y="1998406"/>
            <a:ext cx="313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Price </a:t>
            </a:r>
            <a:r>
              <a:rPr lang="en-US" dirty="0" err="1">
                <a:latin typeface="Arial Black" panose="020B0A04020102020204" pitchFamily="34" charset="0"/>
              </a:rPr>
              <a:t>compromized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255691-7BB0-6E83-4092-1EE91FC4EB9E}"/>
              </a:ext>
            </a:extLst>
          </p:cNvPr>
          <p:cNvSpPr txBox="1"/>
          <p:nvPr/>
        </p:nvSpPr>
        <p:spPr>
          <a:xfrm>
            <a:off x="8554066" y="2529200"/>
            <a:ext cx="344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Pharmacy Finder</a:t>
            </a:r>
            <a:r>
              <a:rPr lang="en-IN" dirty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23AD81-22C3-0366-8940-CFEDC262FAED}"/>
              </a:ext>
            </a:extLst>
          </p:cNvPr>
          <p:cNvSpPr txBox="1"/>
          <p:nvPr/>
        </p:nvSpPr>
        <p:spPr>
          <a:xfrm>
            <a:off x="8554066" y="3119153"/>
            <a:ext cx="3368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 Black" panose="020B0A04020102020204" pitchFamily="34" charset="0"/>
              </a:rPr>
              <a:t>Medicine reminder</a:t>
            </a:r>
            <a:endParaRPr lang="en-IN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59B8A2-C105-4B35-7608-F6A30D29A174}"/>
              </a:ext>
            </a:extLst>
          </p:cNvPr>
          <p:cNvSpPr txBox="1"/>
          <p:nvPr/>
        </p:nvSpPr>
        <p:spPr>
          <a:xfrm>
            <a:off x="8554066" y="3662755"/>
            <a:ext cx="372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Arial Black" panose="020B0A04020102020204" pitchFamily="34" charset="0"/>
              </a:rPr>
              <a:t>Emergency Alert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EC65F1-2680-3F9D-B277-1F0E6516C802}"/>
              </a:ext>
            </a:extLst>
          </p:cNvPr>
          <p:cNvSpPr txBox="1"/>
          <p:nvPr/>
        </p:nvSpPr>
        <p:spPr>
          <a:xfrm>
            <a:off x="8553849" y="4739925"/>
            <a:ext cx="289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Cost Optimization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6E1ACB-54D1-6158-6402-6E856DB51F6D}"/>
              </a:ext>
            </a:extLst>
          </p:cNvPr>
          <p:cNvSpPr txBox="1"/>
          <p:nvPr/>
        </p:nvSpPr>
        <p:spPr>
          <a:xfrm>
            <a:off x="8553849" y="4201340"/>
            <a:ext cx="331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Single application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1B2A16-512E-3000-65A8-ABED98990011}"/>
              </a:ext>
            </a:extLst>
          </p:cNvPr>
          <p:cNvSpPr txBox="1"/>
          <p:nvPr/>
        </p:nvSpPr>
        <p:spPr>
          <a:xfrm>
            <a:off x="8573135" y="5141361"/>
            <a:ext cx="2919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Healthcare Optimization</a:t>
            </a:r>
          </a:p>
        </p:txBody>
      </p:sp>
    </p:spTree>
    <p:extLst>
      <p:ext uri="{BB962C8B-B14F-4D97-AF65-F5344CB8AC3E}">
        <p14:creationId xmlns:p14="http://schemas.microsoft.com/office/powerpoint/2010/main" val="355548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2D121-1D12-1928-C5D2-701CA36EE9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BFDC8-9052-ED14-2F14-C8707D39B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A3DBE-1F04-85AF-7882-749F295F664F}"/>
              </a:ext>
            </a:extLst>
          </p:cNvPr>
          <p:cNvSpPr txBox="1"/>
          <p:nvPr/>
        </p:nvSpPr>
        <p:spPr>
          <a:xfrm>
            <a:off x="806245" y="580103"/>
            <a:ext cx="7039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Our </a:t>
            </a:r>
            <a:br>
              <a:rPr lang="en-US"/>
            </a:br>
            <a:r>
              <a:rPr lang="en-US" err="1"/>
              <a:t>solutins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2479FE-7111-44E8-DCB2-A49811357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4" y="0"/>
            <a:ext cx="12072291" cy="68024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C7A4F8-34B8-4459-FFB8-6E4B5172B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768" y="177209"/>
            <a:ext cx="5652975" cy="62732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17AD54-63CD-3237-AC02-CEADDEECA2CD}"/>
              </a:ext>
            </a:extLst>
          </p:cNvPr>
          <p:cNvSpPr txBox="1"/>
          <p:nvPr/>
        </p:nvSpPr>
        <p:spPr>
          <a:xfrm>
            <a:off x="943897" y="648929"/>
            <a:ext cx="42180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Roles Of Our Application</a:t>
            </a:r>
            <a:endParaRPr lang="en-IN" sz="5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563CB-0981-B387-E7D1-861CAC02C7AF}"/>
              </a:ext>
            </a:extLst>
          </p:cNvPr>
          <p:cNvSpPr txBox="1"/>
          <p:nvPr/>
        </p:nvSpPr>
        <p:spPr>
          <a:xfrm>
            <a:off x="1654308" y="2949476"/>
            <a:ext cx="3204295" cy="238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⬤</a:t>
            </a:r>
            <a:r>
              <a:rPr lang="en-IN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HOME</a:t>
            </a:r>
            <a:br>
              <a:rPr lang="en-IN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1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⬤</a:t>
            </a:r>
            <a:r>
              <a:rPr lang="en-IN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STORE</a:t>
            </a:r>
            <a:br>
              <a:rPr lang="en-IN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1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⬤</a:t>
            </a:r>
            <a:r>
              <a:rPr lang="en-IN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MAPS</a:t>
            </a:r>
            <a:br>
              <a:rPr lang="en-IN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1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⬤</a:t>
            </a:r>
            <a:r>
              <a:rPr lang="en-IN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PROFILE</a:t>
            </a:r>
          </a:p>
        </p:txBody>
      </p:sp>
    </p:spTree>
    <p:extLst>
      <p:ext uri="{BB962C8B-B14F-4D97-AF65-F5344CB8AC3E}">
        <p14:creationId xmlns:p14="http://schemas.microsoft.com/office/powerpoint/2010/main" val="365179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8859-699A-BEA3-BBC7-25A90FCC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C9343-4F43-A32F-E854-091441308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8B9E7-BA8A-693A-24DF-12A31837D1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88057-6545-82F7-E65D-F29BA61A6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802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36427E-918D-3665-CC93-D163FAE5C511}"/>
              </a:ext>
            </a:extLst>
          </p:cNvPr>
          <p:cNvSpPr txBox="1"/>
          <p:nvPr/>
        </p:nvSpPr>
        <p:spPr>
          <a:xfrm>
            <a:off x="2119312" y="5953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56689-A1D7-D211-688E-D56BC8563E2A}"/>
              </a:ext>
            </a:extLst>
          </p:cNvPr>
          <p:cNvSpPr txBox="1"/>
          <p:nvPr/>
        </p:nvSpPr>
        <p:spPr>
          <a:xfrm>
            <a:off x="997356" y="779998"/>
            <a:ext cx="526533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dirty="0">
                <a:solidFill>
                  <a:schemeClr val="accent6">
                    <a:lumMod val="20000"/>
                    <a:lumOff val="80000"/>
                  </a:schemeClr>
                </a:solidFill>
                <a:latin typeface="Goudy Old Style"/>
                <a:ea typeface="Calibri"/>
                <a:cs typeface="Calibri"/>
              </a:rPr>
              <a:t>Home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DFFB6-A995-0A0E-C997-943EE389C6B7}"/>
              </a:ext>
            </a:extLst>
          </p:cNvPr>
          <p:cNvSpPr txBox="1"/>
          <p:nvPr/>
        </p:nvSpPr>
        <p:spPr>
          <a:xfrm>
            <a:off x="1848465" y="1980327"/>
            <a:ext cx="4318689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Scan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AI Assistant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Health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Medicine Schedule 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Health </a:t>
            </a:r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Records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Emergency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Progress 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F0EE76-750C-495F-A4B4-37147055E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990" y="445139"/>
            <a:ext cx="2760557" cy="59677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0308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8CCAD-7177-45BB-FA58-63985CB79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6476-46D1-44BE-E29B-F4FBE49A7B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E5303-C70B-1F5F-126D-59EF62846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5A5FD-A7F3-56FD-D997-8DEC27CA5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5" y="0"/>
            <a:ext cx="1215802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0804C4-84AF-2642-760F-021D0E64832B}"/>
              </a:ext>
            </a:extLst>
          </p:cNvPr>
          <p:cNvSpPr txBox="1"/>
          <p:nvPr/>
        </p:nvSpPr>
        <p:spPr>
          <a:xfrm>
            <a:off x="1199535" y="599768"/>
            <a:ext cx="395759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74EA7-399C-6C02-8660-0C8D6A40C05B}"/>
              </a:ext>
            </a:extLst>
          </p:cNvPr>
          <p:cNvSpPr txBox="1"/>
          <p:nvPr/>
        </p:nvSpPr>
        <p:spPr>
          <a:xfrm>
            <a:off x="1936513" y="1908417"/>
            <a:ext cx="556293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Categories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Cart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Orders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Offers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Generic Alternative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Search Medicine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Customer Reviews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48669-8E11-D250-DF40-D28250A49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092" y="386624"/>
            <a:ext cx="3424493" cy="60847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811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2128D-B11E-C31E-C8D0-4E67C1E70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6A08-989B-5AF2-AB8A-CE33EBF417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C5364-C4B5-1AB4-D00C-8FB29F0306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2721B-D8DB-05A2-E4B5-982570451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79" y="0"/>
            <a:ext cx="1215802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91D616-BDA8-AE0A-BC4E-129B071D9693}"/>
              </a:ext>
            </a:extLst>
          </p:cNvPr>
          <p:cNvSpPr txBox="1"/>
          <p:nvPr/>
        </p:nvSpPr>
        <p:spPr>
          <a:xfrm>
            <a:off x="1042219" y="601345"/>
            <a:ext cx="34514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200">
                <a:solidFill>
                  <a:schemeClr val="accent6">
                    <a:lumMod val="20000"/>
                    <a:lumOff val="80000"/>
                  </a:schemeClr>
                </a:solidFill>
              </a:rPr>
              <a:t>Map</a:t>
            </a:r>
            <a:endParaRPr lang="en-US" sz="7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99A8B-D597-91C2-7DED-BA1B88ADDB9E}"/>
              </a:ext>
            </a:extLst>
          </p:cNvPr>
          <p:cNvSpPr txBox="1"/>
          <p:nvPr/>
        </p:nvSpPr>
        <p:spPr>
          <a:xfrm>
            <a:off x="2307867" y="2038443"/>
            <a:ext cx="4739148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Nearby Pharmacies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Hospitals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Clinics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Labs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Blood Banks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Ambulance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Navigation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Live Availability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828F57-3309-C676-2491-BACE0A3A7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396" y="355685"/>
            <a:ext cx="2803712" cy="5935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5693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57964-E7BB-6283-0D71-7636B1FF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B897-602E-A127-5707-53FAE7785D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9E6BA-5D98-5B24-B46C-D7839CB13D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9D55E-1BE4-DEBB-2B8D-7CF50D5ED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85"/>
            <a:ext cx="1215802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6D2FBA-5953-7D61-CA2E-1DE30DEA7AB6}"/>
              </a:ext>
            </a:extLst>
          </p:cNvPr>
          <p:cNvSpPr txBox="1"/>
          <p:nvPr/>
        </p:nvSpPr>
        <p:spPr>
          <a:xfrm>
            <a:off x="2352082" y="4102082"/>
            <a:ext cx="282185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ACED5-A8D7-7052-BCF0-A268BCB8F413}"/>
              </a:ext>
            </a:extLst>
          </p:cNvPr>
          <p:cNvSpPr txBox="1"/>
          <p:nvPr/>
        </p:nvSpPr>
        <p:spPr>
          <a:xfrm>
            <a:off x="2272354" y="1557777"/>
            <a:ext cx="4312692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Personal Information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Medical History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Family Members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Settings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Language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Notifications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Saved Addresses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Emergency Contacts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Privacy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Help &amp; </a:t>
            </a:r>
            <a:r>
              <a:rPr lang="en-US" sz="2800" dirty="0" err="1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SupportA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91483-75FF-6874-ACB4-EF576B389E97}"/>
              </a:ext>
            </a:extLst>
          </p:cNvPr>
          <p:cNvSpPr txBox="1"/>
          <p:nvPr/>
        </p:nvSpPr>
        <p:spPr>
          <a:xfrm>
            <a:off x="974288" y="357448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Profile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FDC57F-3F1A-A43E-C7E8-4B170E0D4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337" y="357448"/>
            <a:ext cx="2845631" cy="61516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6645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1B37-DC39-549E-801C-B297C7C2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88DD-2A15-82CA-353E-94C1013A86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ABD23-B672-F882-F208-1263C88F04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BA3D2-62E2-1826-4D5D-768E83214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802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E0314C-F467-9352-81C9-570AF6AB5D6C}"/>
              </a:ext>
            </a:extLst>
          </p:cNvPr>
          <p:cNvSpPr txBox="1"/>
          <p:nvPr/>
        </p:nvSpPr>
        <p:spPr>
          <a:xfrm>
            <a:off x="2192594" y="4429919"/>
            <a:ext cx="282185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C2120-F207-1947-52F0-C9B41B81857B}"/>
              </a:ext>
            </a:extLst>
          </p:cNvPr>
          <p:cNvSpPr txBox="1"/>
          <p:nvPr/>
        </p:nvSpPr>
        <p:spPr>
          <a:xfrm>
            <a:off x="2391781" y="155563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BE741-E859-E6E6-DD39-1731AB6115C6}"/>
              </a:ext>
            </a:extLst>
          </p:cNvPr>
          <p:cNvSpPr txBox="1"/>
          <p:nvPr/>
        </p:nvSpPr>
        <p:spPr>
          <a:xfrm>
            <a:off x="1066772" y="4672905"/>
            <a:ext cx="507350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5EFC3-1537-5F1B-D9E9-CF4E081174BD}"/>
              </a:ext>
            </a:extLst>
          </p:cNvPr>
          <p:cNvSpPr txBox="1"/>
          <p:nvPr/>
        </p:nvSpPr>
        <p:spPr>
          <a:xfrm>
            <a:off x="1102788" y="600498"/>
            <a:ext cx="944693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200" b="1" dirty="0">
              <a:ea typeface="+mn-lt"/>
              <a:cs typeface="+mn-lt"/>
            </a:endParaRPr>
          </a:p>
          <a:p>
            <a:r>
              <a:rPr lang="en-US" sz="3200" b="1" dirty="0" err="1">
                <a:solidFill>
                  <a:schemeClr val="accent6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CuraAssist</a:t>
            </a: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6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CareHub</a:t>
            </a:r>
            <a:r>
              <a:rPr lang="en-US" sz="3200" dirty="0">
                <a:solidFill>
                  <a:schemeClr val="accent6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simplifies healthcare by bringing AI assistance, medicine price comparison, nearby pharmacy navigation, and health record management into one smart platform.</a:t>
            </a:r>
            <a:r>
              <a:rPr lang="en-US" sz="3200" dirty="0">
                <a:ea typeface="+mn-lt"/>
                <a:cs typeface="+mn-lt"/>
              </a:rPr>
              <a:t> </a:t>
            </a:r>
          </a:p>
          <a:p>
            <a:r>
              <a:rPr 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Our goal is to make healthcare more accessible, affordable, and convenient for everyone.</a:t>
            </a:r>
            <a:endParaRPr lang="en-US" sz="3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93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87</TotalTime>
  <Words>164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priya Bandari</dc:creator>
  <cp:lastModifiedBy>Rahul Patel</cp:lastModifiedBy>
  <cp:revision>11</cp:revision>
  <dcterms:created xsi:type="dcterms:W3CDTF">2026-08-06T13:44:40Z</dcterms:created>
  <dcterms:modified xsi:type="dcterms:W3CDTF">2026-08-07T00:24:54Z</dcterms:modified>
</cp:coreProperties>
</file>